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9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943600" cy="5943600"/>
          </a:xfrm>
          <a:prstGeom prst="ellipse">
            <a:avLst/>
          </a:prstGeom>
          <a:solidFill>
            <a:srgbClr val="0A4A4E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274320"/>
            <a:ext cx="3291840" cy="3291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5394960"/>
            <a:ext cx="3108960" cy="3108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85832" y="457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8778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&amp; Billing SaaS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Sports &amp; Athletics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502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6052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MySQL platform for managing memberships, payments, and invoices across gyms and athletic programs.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577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58521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K. Mohith (2520030520)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 Yoshik (2520030574)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5577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94960" y="587044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00232" y="2926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2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unified system to run subscriptions and billing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73736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SaaS-based system for managing sports and athletics subscriptions.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2432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24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2578608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gyms, sports academies, fitness centers, and training clubs.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46557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465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3419856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customer, subscription, payment, and invoice information.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430682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3068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4261104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MySQL as the central database.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5148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5102352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organized and efficient subscription and billing management.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818120" y="868680"/>
            <a:ext cx="3840480" cy="5349240"/>
          </a:xfrm>
          <a:prstGeom prst="roundRect">
            <a:avLst>
              <a:gd name="adj" fmla="val 2857"/>
            </a:avLst>
          </a:prstGeom>
          <a:solidFill>
            <a:srgbClr val="F4F9F9"/>
          </a:solidFill>
          <a:ln/>
        </p:spPr>
      </p:sp>
      <p:sp>
        <p:nvSpPr>
          <p:cNvPr id="21" name="Shape 19"/>
          <p:cNvSpPr/>
          <p:nvPr/>
        </p:nvSpPr>
        <p:spPr>
          <a:xfrm>
            <a:off x="7818120" y="868680"/>
            <a:ext cx="3840480" cy="914400"/>
          </a:xfrm>
          <a:prstGeom prst="roundRect">
            <a:avLst>
              <a:gd name="adj" fmla="val 12000"/>
            </a:avLst>
          </a:prstGeom>
          <a:solidFill>
            <a:srgbClr val="07393C"/>
          </a:solidFill>
          <a:ln/>
        </p:spPr>
      </p:sp>
      <p:sp>
        <p:nvSpPr>
          <p:cNvPr id="22" name="Shape 20"/>
          <p:cNvSpPr/>
          <p:nvPr/>
        </p:nvSpPr>
        <p:spPr>
          <a:xfrm>
            <a:off x="7818120" y="1325880"/>
            <a:ext cx="3840480" cy="457200"/>
          </a:xfrm>
          <a:prstGeom prst="rect">
            <a:avLst/>
          </a:prstGeom>
          <a:solidFill>
            <a:srgbClr val="07393C"/>
          </a:solidFill>
          <a:ln/>
        </p:spPr>
      </p:sp>
      <p:sp>
        <p:nvSpPr>
          <p:cNvPr id="23" name="Text 21"/>
          <p:cNvSpPr/>
          <p:nvPr/>
        </p:nvSpPr>
        <p:spPr>
          <a:xfrm>
            <a:off x="8092440" y="960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92440" y="1234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Data Pillars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8092440" y="205740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809244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641080" y="202082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641080" y="231343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being served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92440" y="295351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8092440" y="2953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641080" y="291693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641080" y="320954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plan, how long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92440" y="384962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8092440" y="3849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641080" y="381304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641080" y="410565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been paid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092440" y="474573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8" name="Text 36"/>
          <p:cNvSpPr/>
          <p:nvPr/>
        </p:nvSpPr>
        <p:spPr>
          <a:xfrm>
            <a:off x="8092440" y="47457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641080" y="470916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641080" y="500176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billed &amp; owed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00232" y="2926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1B2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tracking is costing time, accuracy, and revenue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675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911096"/>
            <a:ext cx="219456" cy="219456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91640"/>
            <a:ext cx="5989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subscription management is time-consuming.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6675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2706624"/>
            <a:ext cx="219456" cy="219456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487168"/>
            <a:ext cx="5989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track active and expired memberships.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282696"/>
            <a:ext cx="6675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502152"/>
            <a:ext cx="219456" cy="219456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82696"/>
            <a:ext cx="5989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records may be scattered or inaccurate.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078224"/>
            <a:ext cx="6675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4297680"/>
            <a:ext cx="219456" cy="219456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078224"/>
            <a:ext cx="5989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subscription renewals can cause revenue loss.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873752"/>
            <a:ext cx="6675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5093208"/>
            <a:ext cx="219456" cy="219456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873752"/>
            <a:ext cx="5989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invoice generation requires additional effort.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5669280"/>
            <a:ext cx="6675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1E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5888736"/>
            <a:ext cx="219456" cy="219456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5669280"/>
            <a:ext cx="5989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centralized data makes reporting difficult.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98080" y="1691640"/>
            <a:ext cx="4206240" cy="4572000"/>
          </a:xfrm>
          <a:prstGeom prst="roundRect">
            <a:avLst>
              <a:gd name="adj" fmla="val 2609"/>
            </a:avLst>
          </a:prstGeom>
          <a:solidFill>
            <a:srgbClr val="07393C"/>
          </a:solidFill>
          <a:ln/>
        </p:spPr>
      </p:sp>
      <p:sp>
        <p:nvSpPr>
          <p:cNvPr id="24" name="Text 22"/>
          <p:cNvSpPr/>
          <p:nvPr/>
        </p:nvSpPr>
        <p:spPr>
          <a:xfrm>
            <a:off x="781812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818120" y="23317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centralized</a:t>
            </a:r>
            <a:endParaRPr lang="en-US" sz="2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system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7818120" y="3429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customers, plans, subscriptions, payments, and invoices — all in one structured, reliable database.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818120" y="466344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7818120" y="4663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0" y="46360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renewals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818120" y="5065776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7818120" y="50657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0" y="503834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payments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818120" y="5468112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7818120" y="5468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29600" y="54406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reports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818120" y="5870448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7" name="Text 35"/>
          <p:cNvSpPr/>
          <p:nvPr/>
        </p:nvSpPr>
        <p:spPr>
          <a:xfrm>
            <a:off x="7818120" y="5870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29600" y="584301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00232" y="2926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modules cover the full subscription lifecycle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F4F9F9"/>
          </a:solidFill>
          <a:ln/>
          <a:effectLst>
            <a:outerShdw sx="100000" sy="100000" kx="0" ky="0" algn="bl" rotWithShape="0" blurRad="101600" dist="38100" dir="5400000">
              <a:srgbClr val="365B5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80136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30723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3072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manage customer details.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42816" y="160020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F4F9F9"/>
          </a:solidFill>
          <a:ln/>
          <a:effectLst>
            <a:outerShdw sx="100000" sy="100000" kx="0" ky="0" algn="bl" rotWithShape="0" blurRad="101600" dist="38100" dir="5400000">
              <a:srgbClr val="365B5C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71416" y="180136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471416" y="2468880"/>
            <a:ext cx="30723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Management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471416" y="3108960"/>
            <a:ext cx="3072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plans and track subscription validity.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28432" y="160020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F4F9F9"/>
          </a:solidFill>
          <a:ln/>
          <a:effectLst>
            <a:outerShdw sx="100000" sy="100000" kx="0" ky="0" algn="bl" rotWithShape="0" blurRad="101600" dist="38100" dir="5400000">
              <a:srgbClr val="365B5C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57032" y="180136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57032" y="2468880"/>
            <a:ext cx="30723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Management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57032" y="3108960"/>
            <a:ext cx="3072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payments and pending amounts.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350008" y="425196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F4F9F9"/>
          </a:solidFill>
          <a:ln/>
          <a:effectLst>
            <a:outerShdw sx="100000" sy="100000" kx="0" ky="0" algn="bl" rotWithShape="0" blurRad="101600" dist="38100" dir="5400000">
              <a:srgbClr val="365B5C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78608" y="445312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578608" y="5120640"/>
            <a:ext cx="30723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Invoice Management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2578608" y="5760720"/>
            <a:ext cx="3072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invoices and billing history.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35624" y="425196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F4F9F9"/>
          </a:solidFill>
          <a:ln/>
          <a:effectLst>
            <a:outerShdw sx="100000" sy="100000" kx="0" ky="0" algn="bl" rotWithShape="0" blurRad="101600" dist="38100" dir="5400000">
              <a:srgbClr val="365B5C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64224" y="445312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364224" y="5120640"/>
            <a:ext cx="30723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364224" y="5760720"/>
            <a:ext cx="3072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revenue and subscription reports.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MYSQL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00232" y="2926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and SQL techniques behind the platform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TABLES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1E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920240"/>
            <a:ext cx="201168" cy="2011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78308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5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50008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1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487168"/>
            <a:ext cx="201168" cy="2011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35000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5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Sports_Programs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16936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1E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054096"/>
            <a:ext cx="201168" cy="2011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91693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5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Subscription_Plans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83864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1E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621024"/>
            <a:ext cx="201168" cy="2011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48386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5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050792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1E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4187952"/>
            <a:ext cx="201168" cy="2011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05079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5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1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754880"/>
            <a:ext cx="201168" cy="2011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61772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5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6052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CONCEPTS USED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60520" y="186537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4434840" y="172821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&amp; Foreign Keys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160520" y="228600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4434840" y="2148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160520" y="270662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4434840" y="25694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160520" y="312724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4434840" y="29900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160520" y="35478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4434840" y="34107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BY, ORDER BY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160520" y="396849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4434840" y="383133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160520" y="438912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4434840" y="4251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138160" y="1417320"/>
            <a:ext cx="3566160" cy="4846320"/>
          </a:xfrm>
          <a:prstGeom prst="roundRect">
            <a:avLst>
              <a:gd name="adj" fmla="val 3077"/>
            </a:avLst>
          </a:prstGeom>
          <a:solidFill>
            <a:srgbClr val="07393C"/>
          </a:solidFill>
          <a:ln/>
        </p:spPr>
      </p:sp>
      <p:sp>
        <p:nvSpPr>
          <p:cNvPr id="40" name="Text 38"/>
          <p:cNvSpPr/>
          <p:nvPr/>
        </p:nvSpPr>
        <p:spPr>
          <a:xfrm>
            <a:off x="8458200" y="17190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REPORTS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458200" y="2148840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0A4A4E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0" y="21488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subscriptions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458200" y="3108960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0A4A4E"/>
          </a:solidFill>
          <a:ln/>
        </p:spPr>
      </p:sp>
      <p:sp>
        <p:nvSpPr>
          <p:cNvPr id="44" name="Text 42"/>
          <p:cNvSpPr/>
          <p:nvPr/>
        </p:nvSpPr>
        <p:spPr>
          <a:xfrm>
            <a:off x="8686800" y="31089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subscriptions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458200" y="4069080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0A4A4E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0" y="40690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458200" y="5029200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0A4A4E"/>
          </a:solidFill>
          <a:ln/>
        </p:spPr>
      </p:sp>
      <p:sp>
        <p:nvSpPr>
          <p:cNvPr id="48" name="Text 46"/>
          <p:cNvSpPr/>
          <p:nvPr/>
        </p:nvSpPr>
        <p:spPr>
          <a:xfrm>
            <a:off x="8686800" y="50292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payments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BENEFITS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00232" y="2926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a practical, proven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394960" cy="4617720"/>
          </a:xfrm>
          <a:prstGeom prst="roundRect">
            <a:avLst>
              <a:gd name="adj" fmla="val 2376"/>
            </a:avLst>
          </a:prstGeom>
          <a:solidFill>
            <a:srgbClr val="F4F9F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3317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2860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25880" y="25786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1089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0632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25880" y="33558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development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8404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CSS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25880" y="41330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46634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461772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25880" y="49103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54406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440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25880" y="53949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Flask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25880" y="56875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(if implemented)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1600200"/>
            <a:ext cx="5577840" cy="4617720"/>
          </a:xfrm>
          <a:prstGeom prst="roundRect">
            <a:avLst>
              <a:gd name="adj" fmla="val 2376"/>
            </a:avLst>
          </a:prstGeom>
          <a:solidFill>
            <a:srgbClr val="07393C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92240" y="2377440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0A4A4E"/>
          </a:solidFill>
          <a:ln/>
        </p:spPr>
      </p:sp>
      <p:sp>
        <p:nvSpPr>
          <p:cNvPr id="30" name="Shape 28"/>
          <p:cNvSpPr/>
          <p:nvPr/>
        </p:nvSpPr>
        <p:spPr>
          <a:xfrm>
            <a:off x="6656832" y="2542032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6656832" y="2542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56832" y="28529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work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098280" y="2377440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0A4A4E"/>
          </a:solidFill>
          <a:ln/>
        </p:spPr>
      </p:sp>
      <p:sp>
        <p:nvSpPr>
          <p:cNvPr id="34" name="Shape 32"/>
          <p:cNvSpPr/>
          <p:nvPr/>
        </p:nvSpPr>
        <p:spPr>
          <a:xfrm>
            <a:off x="9262872" y="2542032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5" name="Text 33"/>
          <p:cNvSpPr/>
          <p:nvPr/>
        </p:nvSpPr>
        <p:spPr>
          <a:xfrm>
            <a:off x="9262872" y="2542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262872" y="28529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billing accuracy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92240" y="3429000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0A4A4E"/>
          </a:solidFill>
          <a:ln/>
        </p:spPr>
      </p:sp>
      <p:sp>
        <p:nvSpPr>
          <p:cNvPr id="38" name="Shape 36"/>
          <p:cNvSpPr/>
          <p:nvPr/>
        </p:nvSpPr>
        <p:spPr>
          <a:xfrm>
            <a:off x="6656832" y="3593592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9" name="Text 37"/>
          <p:cNvSpPr/>
          <p:nvPr/>
        </p:nvSpPr>
        <p:spPr>
          <a:xfrm>
            <a:off x="6656832" y="3593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656832" y="39044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Centralizes information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098280" y="3429000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0A4A4E"/>
          </a:solidFill>
          <a:ln/>
        </p:spPr>
      </p:sp>
      <p:sp>
        <p:nvSpPr>
          <p:cNvPr id="42" name="Shape 40"/>
          <p:cNvSpPr/>
          <p:nvPr/>
        </p:nvSpPr>
        <p:spPr>
          <a:xfrm>
            <a:off x="9262872" y="3593592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3" name="Text 41"/>
          <p:cNvSpPr/>
          <p:nvPr/>
        </p:nvSpPr>
        <p:spPr>
          <a:xfrm>
            <a:off x="9262872" y="3593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262872" y="39044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subscription tracking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492240" y="4480560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0A4A4E"/>
          </a:solidFill>
          <a:ln/>
        </p:spPr>
      </p:sp>
      <p:sp>
        <p:nvSpPr>
          <p:cNvPr id="46" name="Shape 44"/>
          <p:cNvSpPr/>
          <p:nvPr/>
        </p:nvSpPr>
        <p:spPr>
          <a:xfrm>
            <a:off x="6656832" y="4645152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7" name="Text 45"/>
          <p:cNvSpPr/>
          <p:nvPr/>
        </p:nvSpPr>
        <p:spPr>
          <a:xfrm>
            <a:off x="6656832" y="4645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656832" y="49560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report generation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9098280" y="4480560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0A4A4E"/>
          </a:solidFill>
          <a:ln/>
        </p:spPr>
      </p:sp>
      <p:sp>
        <p:nvSpPr>
          <p:cNvPr id="50" name="Shape 48"/>
          <p:cNvSpPr/>
          <p:nvPr/>
        </p:nvSpPr>
        <p:spPr>
          <a:xfrm>
            <a:off x="9262872" y="4645152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1" name="Text 49"/>
          <p:cNvSpPr/>
          <p:nvPr/>
        </p:nvSpPr>
        <p:spPr>
          <a:xfrm>
            <a:off x="9262872" y="4645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9262872" y="49560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payment management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000232" y="2926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solid foundation, with room to grow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2121408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920240"/>
            <a:ext cx="4754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an efficient solution for sports subscription and billing management.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62656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3163824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62656"/>
            <a:ext cx="4754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customer, subscription, payment, and invoice management.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005072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4206240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005072"/>
            <a:ext cx="4754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ensures structured and reliable data storage.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5047488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5248656"/>
            <a:ext cx="146304" cy="14630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047488"/>
            <a:ext cx="4754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reports help organizations monitor revenue and subscriptions.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508760"/>
            <a:ext cx="5577840" cy="4754880"/>
          </a:xfrm>
          <a:prstGeom prst="roundRect">
            <a:avLst>
              <a:gd name="adj" fmla="val 2308"/>
            </a:avLst>
          </a:prstGeom>
          <a:solidFill>
            <a:srgbClr val="07393C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224028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0A4A4E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0" y="242316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2423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56832" y="280720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integration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98280" y="224028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0A4A4E"/>
          </a:solidFill>
          <a:ln/>
        </p:spPr>
      </p:sp>
      <p:sp>
        <p:nvSpPr>
          <p:cNvPr id="25" name="Shape 23"/>
          <p:cNvSpPr/>
          <p:nvPr/>
        </p:nvSpPr>
        <p:spPr>
          <a:xfrm>
            <a:off x="9281160" y="242316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9281160" y="2423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62872" y="280720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renewal notifications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34747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0A4A4E"/>
          </a:solidFill>
          <a:ln/>
        </p:spPr>
      </p:sp>
      <p:sp>
        <p:nvSpPr>
          <p:cNvPr id="29" name="Shape 27"/>
          <p:cNvSpPr/>
          <p:nvPr/>
        </p:nvSpPr>
        <p:spPr>
          <a:xfrm>
            <a:off x="6675120" y="365760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36576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56832" y="404164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98280" y="34747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0A4A4E"/>
          </a:solidFill>
          <a:ln/>
        </p:spPr>
      </p:sp>
      <p:sp>
        <p:nvSpPr>
          <p:cNvPr id="33" name="Shape 31"/>
          <p:cNvSpPr/>
          <p:nvPr/>
        </p:nvSpPr>
        <p:spPr>
          <a:xfrm>
            <a:off x="9281160" y="365760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9281160" y="36576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262872" y="404164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login portal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92240" y="47091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0A4A4E"/>
          </a:solidFill>
          <a:ln/>
        </p:spPr>
      </p:sp>
      <p:sp>
        <p:nvSpPr>
          <p:cNvPr id="37" name="Shape 35"/>
          <p:cNvSpPr/>
          <p:nvPr/>
        </p:nvSpPr>
        <p:spPr>
          <a:xfrm>
            <a:off x="6675120" y="489204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6675120" y="4892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656832" y="527608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charts &amp; analytics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098280" y="47091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0A4A4E"/>
          </a:solidFill>
          <a:ln/>
        </p:spPr>
      </p:sp>
      <p:sp>
        <p:nvSpPr>
          <p:cNvPr id="41" name="Shape 39"/>
          <p:cNvSpPr/>
          <p:nvPr/>
        </p:nvSpPr>
        <p:spPr>
          <a:xfrm>
            <a:off x="9281160" y="489204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9281160" y="4892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262872" y="527608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invoice generation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39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0A4A4E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389120"/>
            <a:ext cx="4572000" cy="45720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820156" y="3703320"/>
            <a:ext cx="5486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3886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&amp; Billing SaaS for Sports &amp; Athletics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B9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Mohith  •  MySQL Database Management System Project  •  2026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2026-08-12T09:16:22Z</dcterms:created>
  <dcterms:modified xsi:type="dcterms:W3CDTF">2026-08-12T09:16:22Z</dcterms:modified>
</cp:coreProperties>
</file>