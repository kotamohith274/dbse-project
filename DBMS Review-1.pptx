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7"/>
  </p:notesMasterIdLst>
  <p:handoutMasterIdLst>
    <p:handoutMasterId r:id="rId18"/>
  </p:handoutMasterIdLst>
  <p:sldIdLst>
    <p:sldId id="258" r:id="rId3"/>
    <p:sldId id="377" r:id="rId4"/>
    <p:sldId id="391" r:id="rId5"/>
    <p:sldId id="392" r:id="rId6"/>
    <p:sldId id="393" r:id="rId7"/>
    <p:sldId id="394" r:id="rId8"/>
    <p:sldId id="395" r:id="rId9"/>
    <p:sldId id="396" r:id="rId10"/>
    <p:sldId id="398" r:id="rId11"/>
    <p:sldId id="399" r:id="rId12"/>
    <p:sldId id="397" r:id="rId13"/>
    <p:sldId id="374" r:id="rId14"/>
    <p:sldId id="400" r:id="rId15"/>
    <p:sldId id="33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479D78E-41F3-A1F4-EC04-02F424684A7A}" name="usha rani" initials="ur" userId="ac3da7c9ac03e58b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066899-C096-4686-B300-E1D6AA42CDE9}" v="18" dt="2026-07-02T16:12:21.471"/>
    <p1510:client id="{E9B0078F-71CD-40F1-B7A0-85484F5377DB}" v="8" dt="2026-07-03T06:55:41.5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370" autoAdjust="0"/>
    <p:restoredTop sz="95035" autoAdjust="0"/>
  </p:normalViewPr>
  <p:slideViewPr>
    <p:cSldViewPr snapToGrid="0" snapToObjects="1">
      <p:cViewPr>
        <p:scale>
          <a:sx n="75" d="100"/>
          <a:sy n="75" d="100"/>
        </p:scale>
        <p:origin x="176" y="10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009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22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8/10/relationships/authors" Target="author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FD0E32-84B7-61F7-BC6E-7F3D3E58F4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D96D9-5F98-A44D-2018-D6A2A308A4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  <a:t>8/17/26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3AFF6-B32C-BF80-479E-15EDD755C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E1A79-2016-95C1-5829-B295A2C985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2229D-753E-D112-EA38-F8EB6301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858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  <a:t>8/17/26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55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22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710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9486-861A-2ECA-4D40-39E5F67E8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C5A513-C79F-B540-0019-433BDBACF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E0A3D1-26CD-4F17-E4CA-311B4310E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6467B8-2D06-EBB4-C77E-EA980BEAC2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1947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4FB51-0CCD-7E30-006C-24572EE0C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5B3405-B72E-77E8-AC88-39C8BF27F8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247CED-38BD-61BC-C289-9935025A3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F3921-5CCB-99B2-BEAE-679945FC1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306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1CFD8-ECD5-0783-2AB0-ACFC3273E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C7F17B-D2F6-662D-52FF-83B2BA2D25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65DD85-E53A-AA51-8A24-6FD75FA0A7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BC8F9F-8E69-312B-01C2-05B902ACFE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2778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A3961-5DE8-686E-3894-1EC4CE358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96716B-DE78-BE6A-065C-700B8CB017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D0C432-4A58-F09A-00A6-554859B76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4D428-282E-3F76-CEAD-7497380C2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4594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577CB-4429-8372-ECF7-B3B85B0A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E879B-CAC4-B338-544C-CF4E8482F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C0575-544B-58B3-87C9-8D914A1D0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215F5-CFE1-7F26-9CD8-10AC466630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944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44B66-EC91-2BD6-7D3F-FB9E75F43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0EFCE-537F-8314-27E9-BA17DC4235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71D28A-95EE-C579-9938-AA5724487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DA88E0-9C15-85FD-D2EF-741091DD3E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4067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92C9F-32E2-1DF3-D933-ED26BBAAB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CBD77D-896E-36B8-476D-3DB9858E9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481400-FC6F-EC9E-B10C-065E4BC062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4178FD-5294-B25F-1455-AC41BC9942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3325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A88E8-8740-3949-BE64-BB62EA08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22BF00-6CFB-1C09-C3B7-8F0F835403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9D5D7B-5FA1-6B53-71F8-A93818030C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43D1A-5BCA-DD1F-4EB8-C6373CACAA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9284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27E06-5BF0-54B9-FB5D-CFB52D43BF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EA4E6-D507-DC8D-31AA-A4CB32D7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99788-2E86-FADA-072C-884B02615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A504A-D052-4F2D-906E-4CCCD67E5352}" type="datetime1">
              <a:rPr lang="en-IN" smtClean="0"/>
              <a:t>17/08/26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D1ADA-8991-D408-DA0A-FE3B043FE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F78D-056F-7C9E-8F10-682094624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9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A370-C77E-4354-33A4-1D2D9DDD6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FE7F8-1A57-17F5-243A-454005CCD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AE72D-6D76-FAB8-D597-99BF2087A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47009-55DF-4EA5-900B-29AFB7C8438A}" type="datetime1">
              <a:rPr lang="en-IN" smtClean="0"/>
              <a:t>17/08/26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60C41-C703-1443-60E7-2BEF34D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B3600-770E-6D67-2A66-D2FECF5D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76DCD-546C-A1AC-C961-3F3EEC504416}"/>
              </a:ext>
            </a:extLst>
          </p:cNvPr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4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5DA9-698C-D133-BCF7-93A02E210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85215-9C62-1486-DEC7-AF8E59725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292FD-C465-3FCB-1CEB-331C31A97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8B550-430E-4E00-8584-398912EDCDA8}" type="datetime1">
              <a:rPr lang="en-IN" smtClean="0"/>
              <a:t>17/08/26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96C18-4538-A1F2-0B35-7684E5B3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5BEFA-16A3-B084-9011-B7E85C9C9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70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A91F-6631-AA20-E58B-064235B6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29CD-C8C6-CEFE-D059-40BEA2997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5D9AB-9E5E-59E2-9DA3-6C54D45EA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C372B-55E2-4467-1C5C-88EAE728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515C1-FC0C-48DC-AA13-5A7440F04A46}" type="datetime1">
              <a:rPr lang="en-IN" smtClean="0"/>
              <a:t>17/08/26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897BD-CB93-AC5A-9B15-FD7F4D95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540F5-8BB9-4C4C-626E-5D45C97E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25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8A3B-B4EE-2816-3ADC-193854142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F86E-35F8-453B-F58E-48D8C4903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3D8923-FBC0-8866-8350-696FB3D22B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45281-3CB5-361A-7D56-C6E37E290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62343-9DB8-07DC-AD19-22AE6A7E5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B0191-CD7B-6170-8655-A3CD1009B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A9D0-F765-45B1-928F-556B91D2C522}" type="datetime1">
              <a:rPr lang="en-IN" smtClean="0"/>
              <a:t>17/08/26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80C4C-B6E8-81B1-E2F5-D6264E3F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C8B11F-5860-03B4-E71F-3467444F9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0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7A6C5-1A49-C01E-B839-45967150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C47471-9D6F-27AE-9B05-71D6BF96E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0E6F3-7E24-4BDE-BB37-BD18A6966701}" type="datetime1">
              <a:rPr lang="en-IN" smtClean="0"/>
              <a:t>17/08/26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AFD67-19CE-C1CD-207C-EF612C5A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D7506-CEE9-31E5-7D10-A0BD1B2B0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88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BBBBF-B095-FC7E-61BE-572DFB7B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13449-4DF0-4F1F-A3E4-097B1714C7C4}" type="datetime1">
              <a:rPr lang="en-IN" smtClean="0"/>
              <a:t>17/08/26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555D4-8ECB-AFFE-0E72-A206E409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EB7F-0F36-6AF2-5A6E-D350360E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75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3453-54A8-457E-0F66-9BE958D9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50AE-B8BE-E1FF-F3BA-809308221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DA6038-C8B1-F7F2-5CA8-15CFE38CB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97CAE-AF61-8AFD-5350-97D8044E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4166F-CD67-4CEB-8DD7-1E38016562AC}" type="datetime1">
              <a:rPr lang="en-IN" smtClean="0"/>
              <a:t>17/08/26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989E-AF43-DFDB-D9DD-E85DED3C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BCAA9-93EB-8A4D-BB9C-2479D5935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4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CE57A-1FB8-E230-296B-702500A0D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470CF4-1245-8E91-196B-2297C07C9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54EA7-CAD7-C04A-6487-F7D166033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31731-B315-1CCB-7EEF-B7C7EC92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8F83E-6F8A-4D66-8D97-D167DE305BE2}" type="datetime1">
              <a:rPr lang="en-IN" smtClean="0"/>
              <a:t>17/08/26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DE31E-F8C7-4C00-C40D-FE2821B70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C9369-3918-E39E-9B60-A57179D0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6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F7F1-0136-E40C-5B0F-C1D42F6E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8B89F-EA4C-AA4F-0EB2-C715E5B0D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EC3-3D5C-B4D8-ADAC-C6249EB46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A3A21-9775-4B2C-9B39-32116406212C}" type="datetime1">
              <a:rPr lang="en-IN" smtClean="0"/>
              <a:t>17/08/26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FED2-229B-3728-C7BA-7E8D5157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B8F22-95FA-4A5E-31CC-C3851B52E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13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6F1B25-2FA5-C4F6-09E8-D6F7A8DF83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113B0-02D5-BBE3-31A5-473961629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AE10-6B7D-C48F-F3FF-419AD441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ABDC8-9AAF-4B62-9540-4EA826AA678B}" type="datetime1">
              <a:rPr lang="en-IN" smtClean="0"/>
              <a:t>17/08/26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D582-0634-2511-6F7E-7229EC072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AE7E1-0525-6C8B-2077-B55EFBEA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250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2A4A3-2E21-E418-73DE-E22247EE4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C87DE1-CAF2-229C-5776-9562B7956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54DD8-14C4-ACB8-D444-27F005A4C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21C3-0F1A-498D-9F2E-D10FACA35B86}" type="datetime1">
              <a:rPr lang="en-IN" smtClean="0"/>
              <a:t>17/08/26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BF891-4BCD-EC21-1259-8661D36C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951AF-D1A2-07A4-0B2A-7E9D6B41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52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CBFB9-B574-3DEB-F162-FE89B380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4B0E9-24AC-9760-0CBD-E5D0888E3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1205-CA2E-9649-1960-8F17E0E6D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9A7DA-FCDD-43FA-8A0C-6A5B2B391695}" type="datetime1">
              <a:rPr lang="en-IN" smtClean="0"/>
              <a:t>17/08/26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02BAD-D0DE-F254-BBD1-2AFE276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87769-B833-24E6-E30B-DCE74558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9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4CF5-AE66-5FEF-8EEC-A630C8B2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528CE2-68D8-267B-C297-6117F0736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5FFB0-0F78-AEB8-5AFB-EC779B961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8D4BE-274D-4073-90F9-6DE45B427D7A}" type="datetime1">
              <a:rPr lang="en-IN" smtClean="0"/>
              <a:t>17/08/26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3BE8E-E2EB-A8B6-21DD-9AB839A58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BE51E-49C9-6B3A-1C46-49212B576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376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3AF32-49A3-7BB1-C7E7-6C5D90D17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51BE1-060E-F420-83BA-C8AE9151CF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265B4-44BE-C9BD-56AD-24359969A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62ECC-3BDB-BEA4-4B7F-1545B0DC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D2526-BF89-47C7-96E6-5B804E43EF11}" type="datetime1">
              <a:rPr lang="en-IN" smtClean="0"/>
              <a:t>17/08/26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9311-B569-3D99-B257-5CEB03A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828AD-34AD-9A23-4FFC-4C32387C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661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6895-A3B7-F0FB-3CBE-59E564F2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9C285-ECC0-3375-66EF-B240D726B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B153A-9265-EAEC-A55D-251905733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E62BD6-069B-567C-13A2-AD51A312F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CFDC1-AF24-C301-0A26-DA099D8FF3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CB484-D858-5027-D2CF-125E103D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27929-B24E-4CA0-A508-395AF785C673}" type="datetime1">
              <a:rPr lang="en-IN" smtClean="0"/>
              <a:t>17/08/26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D1DFD-AA21-1102-AD58-F0AB4361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8466D-C960-00E9-B91E-E2052515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166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5EEF4A-08C3-1725-4505-63B90332E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D38A5-B84E-8DCB-3CEA-900D45C8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F078D-01B0-9071-5546-6BFF4A071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A717A7-838C-4809-BC62-F129B310B950}" type="datetime1">
              <a:rPr lang="en-IN" smtClean="0"/>
              <a:t>17/08/26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63510-A0D8-83AF-2345-E0A8B79D5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51A12-6174-66E3-0415-DA607E50C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827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B26EC2-0EF8-2F89-DF64-2685FD63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29FC3-B99D-0056-3798-159705D11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9F1E1-99D3-E959-A91B-BD6DF2599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DB2A2-8993-4CD1-B936-8FCCA45C385B}" type="datetime1">
              <a:rPr lang="en-IN" smtClean="0"/>
              <a:t>17/08/26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C7260-A9B7-9847-6D81-8C797C4D5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27894-99B0-6303-77B2-C1C210EE2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4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00A09-BF95-A121-71A4-33FFE91A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1417" y="606175"/>
            <a:ext cx="10392383" cy="471063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br>
              <a:rPr lang="en-US" sz="2400" b="1" dirty="0">
                <a:cs typeface="Arial" panose="020B0604020202020204" pitchFamily="34" charset="0"/>
              </a:rPr>
            </a:br>
            <a:r>
              <a:rPr lang="en-US" sz="2400" b="1" dirty="0">
                <a:cs typeface="Arial" panose="020B0604020202020204" pitchFamily="34" charset="0"/>
              </a:rPr>
              <a:t>1</a:t>
            </a:r>
            <a:r>
              <a:rPr lang="en-US" sz="2400" b="1" baseline="30000" dirty="0">
                <a:cs typeface="Arial" panose="020B0604020202020204" pitchFamily="34" charset="0"/>
              </a:rPr>
              <a:t>st</a:t>
            </a:r>
            <a:r>
              <a:rPr lang="en-US" sz="2400" b="1" dirty="0">
                <a:cs typeface="Arial" panose="020B0604020202020204" pitchFamily="34" charset="0"/>
              </a:rPr>
              <a:t>  REVIEW</a:t>
            </a:r>
            <a:br>
              <a:rPr lang="en-US" sz="2400" dirty="0">
                <a:latin typeface="+mn-lt"/>
                <a:cs typeface="Arial" panose="020B0604020202020204" pitchFamily="34" charset="0"/>
              </a:rPr>
            </a:br>
            <a:br>
              <a:rPr lang="en-US" sz="2400" dirty="0">
                <a:solidFill>
                  <a:srgbClr val="FF0000"/>
                </a:solidFill>
                <a:latin typeface="+mn-lt"/>
                <a:cs typeface="Arial" panose="020B0604020202020204" pitchFamily="34" charset="0"/>
              </a:rPr>
            </a:br>
            <a:r>
              <a:rPr lang="en-US" sz="2400" b="1" dirty="0">
                <a:solidFill>
                  <a:srgbClr val="011893"/>
                </a:solidFill>
                <a:latin typeface="+mn-lt"/>
                <a:cs typeface="Arial" panose="020B0604020202020204" pitchFamily="34" charset="0"/>
              </a:rPr>
              <a:t>Distributed Video Anomaly Detection in Large-Scale Surveillance Systems Using HDFS and Cluster-Visualized Federated CNN–LSTM Models</a:t>
            </a:r>
            <a:br>
              <a:rPr lang="en-US" sz="2400" b="1" dirty="0">
                <a:solidFill>
                  <a:srgbClr val="011893"/>
                </a:solidFill>
                <a:latin typeface="+mn-lt"/>
                <a:cs typeface="Arial" panose="020B0604020202020204" pitchFamily="34" charset="0"/>
              </a:rPr>
            </a:br>
            <a:endParaRPr lang="en-US" sz="2400" b="1" dirty="0">
              <a:solidFill>
                <a:srgbClr val="011893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4CF11E-4EBB-004C-8FD7-152B8D16D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24F28400-FDB5-158C-D317-153E1B1CD072}"/>
              </a:ext>
            </a:extLst>
          </p:cNvPr>
          <p:cNvSpPr txBox="1">
            <a:spLocks/>
          </p:cNvSpPr>
          <p:nvPr/>
        </p:nvSpPr>
        <p:spPr>
          <a:xfrm>
            <a:off x="961417" y="5032000"/>
            <a:ext cx="10506683" cy="138075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rgbClr val="C0000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rgbClr val="C0000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rgbClr val="C0000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rgbClr val="C00000"/>
                </a:solidFill>
              </a:rPr>
              <a:t>KONERU LAKSHMAIAH EDUCATION FOUNDATION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800" b="1" dirty="0">
              <a:solidFill>
                <a:srgbClr val="0070C0"/>
              </a:solidFill>
            </a:endParaRP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968465D1-CCC3-285A-3E29-8B23DC764FF6}"/>
              </a:ext>
            </a:extLst>
          </p:cNvPr>
          <p:cNvSpPr txBox="1">
            <a:spLocks/>
          </p:cNvSpPr>
          <p:nvPr/>
        </p:nvSpPr>
        <p:spPr>
          <a:xfrm>
            <a:off x="952500" y="3143780"/>
            <a:ext cx="10515600" cy="180629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Under the Guidance </a:t>
            </a:r>
          </a:p>
          <a:p>
            <a:pPr marL="0" indent="0" algn="ctr">
              <a:buNone/>
            </a:pPr>
            <a:r>
              <a:rPr lang="en-US" sz="2400" dirty="0"/>
              <a:t>of </a:t>
            </a:r>
            <a:endParaRPr lang="en-US" sz="2400" dirty="0">
              <a:solidFill>
                <a:srgbClr val="00B05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solidFill>
                  <a:srgbClr val="00B050"/>
                </a:solidFill>
              </a:rPr>
              <a:t>Dr. Y Prasanthi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solidFill>
                  <a:srgbClr val="00B050"/>
                </a:solidFill>
              </a:rPr>
              <a:t>Assistant Professor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solidFill>
                  <a:srgbClr val="00B050"/>
                </a:solidFill>
              </a:rPr>
              <a:t>Department of Computer Science and Engineering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864F2-F4A5-DC53-C4B3-F9C0A49E4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0th REVIEW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3C41FE-7D1F-E7DF-F0EB-DE18D3955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6040" y="4860024"/>
            <a:ext cx="2618924" cy="1243012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5C1A452-4633-BB68-A150-FAF552C36C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307227"/>
              </p:ext>
            </p:extLst>
          </p:nvPr>
        </p:nvGraphicFramePr>
        <p:xfrm>
          <a:off x="2032000" y="1680962"/>
          <a:ext cx="812800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64949112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4783695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K.Mohith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Roll no:2520030520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518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A.Yoshik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Roll no:2520030574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3438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4183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2554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F0159-92E9-5749-2215-8FA86E40B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4484" y="374681"/>
            <a:ext cx="9343030" cy="726696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GROUP NUMBER:19</a:t>
            </a:r>
            <a:endParaRPr lang="en-IN" sz="3200" b="1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BEE83-A330-74AD-884C-C19F63D46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8CDC1-D8FB-8D4B-F57A-06B2C414C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7" name="Table 10">
            <a:extLst>
              <a:ext uri="{FF2B5EF4-FFF2-40B4-BE49-F238E27FC236}">
                <a16:creationId xmlns:a16="http://schemas.microsoft.com/office/drawing/2014/main" id="{BD94FEB8-52D1-2D12-5891-6583D8FD44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7404435"/>
              </p:ext>
            </p:extLst>
          </p:nvPr>
        </p:nvGraphicFramePr>
        <p:xfrm>
          <a:off x="838199" y="1416193"/>
          <a:ext cx="10515600" cy="3567649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4656383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175382372"/>
                    </a:ext>
                  </a:extLst>
                </a:gridCol>
              </a:tblGrid>
              <a:tr h="41844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 of Candidate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7162894"/>
                  </a:ext>
                </a:extLst>
              </a:tr>
              <a:tr h="62984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1584153"/>
                  </a:ext>
                </a:extLst>
              </a:tr>
              <a:tr h="629841">
                <a:tc>
                  <a:txBody>
                    <a:bodyPr/>
                    <a:lstStyle/>
                    <a:p>
                      <a:r>
                        <a:rPr lang="en-US" dirty="0" err="1"/>
                        <a:t>K.Mohith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Backend &amp; User Management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1687620"/>
                  </a:ext>
                </a:extLst>
              </a:tr>
              <a:tr h="629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b="0" dirty="0">
                        <a:solidFill>
                          <a:schemeClr val="tx1">
                            <a:alpha val="31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9241275"/>
                  </a:ext>
                </a:extLst>
              </a:tr>
              <a:tr h="629841">
                <a:tc>
                  <a:txBody>
                    <a:bodyPr/>
                    <a:lstStyle/>
                    <a:p>
                      <a:r>
                        <a:rPr lang="en-US" dirty="0" err="1"/>
                        <a:t>A.Yoshik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Subscription, Billing &amp; Deployment</a:t>
                      </a:r>
                      <a:endParaRPr lang="en-US" b="0" dirty="0">
                        <a:solidFill>
                          <a:schemeClr val="tx1">
                            <a:alpha val="31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121683"/>
                  </a:ext>
                </a:extLst>
              </a:tr>
              <a:tr h="629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b="0" dirty="0">
                        <a:solidFill>
                          <a:schemeClr val="tx1">
                            <a:alpha val="31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95937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3936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C21A4-4335-3E69-90C0-3A67A34B2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32EA0-1B53-65AA-CA98-61C6349CC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ABSTRACT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208674-D9B3-10B6-5D9C-41DD53040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CDEA6-9764-F9AA-B69B-6D32503B0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A63587-658B-D9DC-0DC8-293DA4D38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0"/>
            <a:r>
              <a:rPr lang="en-IN" dirty="0"/>
              <a:t>The </a:t>
            </a:r>
            <a:r>
              <a:rPr lang="en-IN" b="1" dirty="0"/>
              <a:t>Subscription &amp; Billing SaaS for Sports &amp; Athletics</a:t>
            </a:r>
            <a:r>
              <a:rPr lang="en-IN" dirty="0"/>
              <a:t> is a database-driven platform designed to manage sports memberships, subscription plans, billing and payments.</a:t>
            </a:r>
          </a:p>
          <a:p>
            <a:pPr lvl="0"/>
            <a:r>
              <a:rPr lang="en-IN" dirty="0"/>
              <a:t>The system provides a centralized platform for managing athletes, sports programs and subscription plans.</a:t>
            </a:r>
          </a:p>
          <a:p>
            <a:pPr lvl="0"/>
            <a:r>
              <a:rPr lang="en-IN" dirty="0"/>
              <a:t>It automates subscription creation, renewal, cancellation, billing and invoice management.</a:t>
            </a:r>
          </a:p>
          <a:p>
            <a:pPr lvl="0"/>
            <a:r>
              <a:rPr lang="en-IN" dirty="0"/>
              <a:t>A relational database is used to maintain structured and consistent data.</a:t>
            </a:r>
          </a:p>
          <a:p>
            <a:pPr lvl="0"/>
            <a:r>
              <a:rPr lang="en-IN" dirty="0"/>
              <a:t>REST APIs provide communication between the frontend and backend services.</a:t>
            </a:r>
          </a:p>
          <a:p>
            <a:pPr lvl="0"/>
            <a:r>
              <a:rPr lang="en-IN" dirty="0"/>
              <a:t>The system can be extended into a microservices-based architecture for scalability and easier maintenance.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421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C98CD-164D-D85C-3C57-86DE945BC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67F0A-F575-131F-4FAD-BB774017A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INTRDOUCTION</a:t>
            </a:r>
            <a:endParaRPr lang="en-IN" sz="32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EFBF-E399-A1D2-ED5E-57C497A79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65F5E2-7F9E-F67E-1C1D-E2C463D8F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0241EE-20FA-FE88-F0CE-F84CFE3ED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en-IN" dirty="0"/>
              <a:t>Sports academies, gyms and athletic organizations manage multiple athletes and subscription plans.</a:t>
            </a:r>
          </a:p>
          <a:p>
            <a:pPr lvl="0"/>
            <a:r>
              <a:rPr lang="en-IN" dirty="0"/>
              <a:t>Manual management of memberships and billing can be time-consuming and error-prone.</a:t>
            </a:r>
          </a:p>
          <a:p>
            <a:pPr lvl="0"/>
            <a:r>
              <a:rPr lang="en-IN" dirty="0"/>
              <a:t>The proposed SaaS platform provides a centralized solution for managing subscriptions and payments.</a:t>
            </a:r>
          </a:p>
          <a:p>
            <a:pPr lvl="0"/>
            <a:r>
              <a:rPr lang="en-IN" dirty="0"/>
              <a:t>Administrators can manage users, sports, plans, subscriptions and billing records.</a:t>
            </a:r>
          </a:p>
          <a:p>
            <a:pPr lvl="0"/>
            <a:r>
              <a:rPr lang="en-IN" dirty="0"/>
              <a:t>Users can view their plans, subscription status and payment information.</a:t>
            </a:r>
          </a:p>
          <a:p>
            <a:pPr lvl="0"/>
            <a:r>
              <a:rPr lang="en-IN" dirty="0"/>
              <a:t>The project applies </a:t>
            </a:r>
            <a:r>
              <a:rPr lang="en-IN" b="1" dirty="0"/>
              <a:t>database engineering, backend API development, microservices and deployment concepts</a:t>
            </a:r>
            <a:r>
              <a:rPr lang="en-IN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092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8186F-83EF-F797-3CF5-E0EB652B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ADAA0-09CB-B341-1C09-04229CE69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EXISTING SYSTEM</a:t>
            </a:r>
            <a:endParaRPr lang="en-IN" sz="32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8FD481-001E-20A8-DE67-D9A84959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26E39B-0946-7E2E-7624-441AA6BEE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6021FD-8573-454E-AAE6-0DB77042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lvl="0"/>
            <a:r>
              <a:rPr lang="en-IN" dirty="0"/>
              <a:t>Many sports organizations use manual or spreadsheet-based subscription management.</a:t>
            </a:r>
          </a:p>
          <a:p>
            <a:pPr lvl="0"/>
            <a:r>
              <a:rPr lang="en-IN" dirty="0"/>
              <a:t>Billing and payment records may be maintained separately.</a:t>
            </a:r>
          </a:p>
          <a:p>
            <a:pPr lvl="0"/>
            <a:r>
              <a:rPr lang="en-IN" dirty="0"/>
              <a:t>Subscription renewal tracking is often performed manually.</a:t>
            </a:r>
          </a:p>
          <a:p>
            <a:pPr lvl="0"/>
            <a:r>
              <a:rPr lang="en-IN" dirty="0"/>
              <a:t>Difficult to maintain accurate records when the number of users increases.</a:t>
            </a:r>
          </a:p>
          <a:p>
            <a:pPr lvl="0"/>
            <a:r>
              <a:rPr lang="en-IN" dirty="0"/>
              <a:t>Generating invoices and reports requires additional manual work.</a:t>
            </a:r>
          </a:p>
          <a:p>
            <a:pPr lvl="0"/>
            <a:r>
              <a:rPr lang="en-IN" dirty="0"/>
              <a:t>Limited integration between subscription, billing and user-management systems.</a:t>
            </a:r>
          </a:p>
          <a:p>
            <a:pPr lvl="0"/>
            <a:r>
              <a:rPr lang="en-IN" dirty="0"/>
              <a:t>These limitations create a need for an automated centralized platform.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5086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7D086-C570-6965-FE9B-0BC9CC8DC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9E69-F203-A171-A5A3-B886BB15A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PROBLEM</a:t>
            </a:r>
            <a:endParaRPr lang="en-IN" sz="32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7E664-BF08-3F4A-316F-C5F90E27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522F1-A86A-A779-FD8E-AD3FAD013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1C0964-43C5-DE58-F74B-F0B3B1F5C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IN" dirty="0"/>
              <a:t>How to efficiently manage a large number of sports subscriptions?</a:t>
            </a:r>
          </a:p>
          <a:p>
            <a:pPr lvl="0"/>
            <a:r>
              <a:rPr lang="en-IN" dirty="0"/>
              <a:t>How to track active, expired and cancelled memberships?</a:t>
            </a:r>
          </a:p>
          <a:p>
            <a:pPr lvl="0"/>
            <a:r>
              <a:rPr lang="en-IN" dirty="0"/>
              <a:t>How to automate billing and invoice generation?</a:t>
            </a:r>
          </a:p>
          <a:p>
            <a:pPr lvl="0"/>
            <a:r>
              <a:rPr lang="en-IN" dirty="0"/>
              <a:t>How to maintain accurate payment records?</a:t>
            </a:r>
          </a:p>
          <a:p>
            <a:pPr lvl="0"/>
            <a:r>
              <a:rPr lang="en-IN" dirty="0"/>
              <a:t>How to reduce errors in manual subscription management?</a:t>
            </a:r>
          </a:p>
          <a:p>
            <a:pPr lvl="0"/>
            <a:r>
              <a:rPr lang="en-IN" dirty="0"/>
              <a:t>How to design the system so that it can support future scalability?</a:t>
            </a:r>
          </a:p>
          <a:p>
            <a:pPr lvl="0"/>
            <a:r>
              <a:rPr lang="en-IN" dirty="0"/>
              <a:t>How to securely manage user and billing information?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9224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1D2BB-24DC-B783-7CA6-93F4D0FDD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F7F70-D950-780B-9427-7B1B3DAFF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SOLUTION(Contribution)</a:t>
            </a:r>
            <a:endParaRPr lang="en-IN" sz="32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3B14AD-C0C8-6663-E0C7-1AAF7B63E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A39EF-2DDE-9002-F716-F77A6113D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05A205-0B24-5585-AD3A-14F0657A95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en-IN" dirty="0"/>
              <a:t>Develop a centralized </a:t>
            </a:r>
            <a:r>
              <a:rPr lang="en-IN" b="1" dirty="0"/>
              <a:t>Subscription &amp; Billing SaaS</a:t>
            </a:r>
            <a:r>
              <a:rPr lang="en-IN" dirty="0"/>
              <a:t> for sports and athletics organizations.</a:t>
            </a:r>
          </a:p>
          <a:p>
            <a:pPr lvl="0"/>
            <a:r>
              <a:rPr lang="en-IN" dirty="0"/>
              <a:t>Store user, sports, plans, subscriptions, payments and invoice information in a relational database.</a:t>
            </a:r>
          </a:p>
          <a:p>
            <a:pPr lvl="0"/>
            <a:r>
              <a:rPr lang="en-IN" dirty="0"/>
              <a:t>Provide REST APIs for subscription and billing operations.</a:t>
            </a:r>
          </a:p>
          <a:p>
            <a:pPr lvl="0"/>
            <a:r>
              <a:rPr lang="en-IN" dirty="0"/>
              <a:t>Automate subscription status and renewal management.</a:t>
            </a:r>
          </a:p>
          <a:p>
            <a:pPr lvl="0"/>
            <a:r>
              <a:rPr lang="en-IN" dirty="0"/>
              <a:t>Maintain complete payment and invoice records.</a:t>
            </a:r>
          </a:p>
          <a:p>
            <a:pPr lvl="0"/>
            <a:r>
              <a:rPr lang="en-IN" dirty="0"/>
              <a:t>Implement authentication and authorization for secure access.</a:t>
            </a:r>
          </a:p>
          <a:p>
            <a:pPr lvl="0"/>
            <a:r>
              <a:rPr lang="en-IN" dirty="0"/>
              <a:t>Design independent services for users, subscriptions, billing and payments.</a:t>
            </a:r>
          </a:p>
          <a:p>
            <a:pPr lvl="0"/>
            <a:r>
              <a:rPr lang="en-IN" dirty="0"/>
              <a:t>Use Docker for containerization and deployment.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9831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553A8-3533-6CAA-B371-DE8FA0254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B2015-9851-BB00-C9BE-D0201418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600" b="1" dirty="0">
                <a:solidFill>
                  <a:srgbClr val="0070C0"/>
                </a:solidFill>
              </a:rPr>
              <a:t>Objectives </a:t>
            </a:r>
            <a:endParaRPr lang="en-IN" sz="36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6106D5-4F08-32F7-69CA-DA0983824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2EE72-0990-73F7-3A95-5511C5AA0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40F2FD-B824-35C5-9EAA-5AF510938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IN" dirty="0"/>
              <a:t>To design a reliable database for sports subscription and billing management.</a:t>
            </a:r>
          </a:p>
          <a:p>
            <a:pPr lvl="0"/>
            <a:r>
              <a:rPr lang="en-IN" dirty="0"/>
              <a:t>To manage athletes, users and sports programs efficiently.</a:t>
            </a:r>
          </a:p>
          <a:p>
            <a:pPr lvl="0"/>
            <a:r>
              <a:rPr lang="en-IN" dirty="0"/>
              <a:t>To create and manage different subscription plans.</a:t>
            </a:r>
          </a:p>
          <a:p>
            <a:pPr lvl="0"/>
            <a:r>
              <a:rPr lang="en-IN" dirty="0"/>
              <a:t>To automate subscription creation, renewal and cancellation.</a:t>
            </a:r>
          </a:p>
          <a:p>
            <a:pPr lvl="0"/>
            <a:r>
              <a:rPr lang="en-IN" dirty="0"/>
              <a:t>To maintain payment and invoice records.</a:t>
            </a:r>
          </a:p>
          <a:p>
            <a:pPr lvl="0"/>
            <a:r>
              <a:rPr lang="en-IN" dirty="0"/>
              <a:t>To develop secure REST APIs for system operations.</a:t>
            </a:r>
          </a:p>
          <a:p>
            <a:pPr lvl="0"/>
            <a:r>
              <a:rPr lang="en-IN" dirty="0"/>
              <a:t>To apply microservices architecture for scalability.</a:t>
            </a:r>
          </a:p>
          <a:p>
            <a:pPr lvl="0"/>
            <a:r>
              <a:rPr lang="en-IN" dirty="0"/>
              <a:t>To implement containerized deployment using Docker.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2079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377E-B28A-2AB9-1E52-312C1B6D0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0CE29-8CD2-1FFC-0567-2D18CBDB1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600" b="1" dirty="0">
                <a:solidFill>
                  <a:srgbClr val="0070C0"/>
                </a:solidFill>
              </a:rPr>
              <a:t>Modules</a:t>
            </a:r>
            <a:endParaRPr lang="en-IN" sz="36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E5840-59B4-6944-E4BB-E2BB1AD67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9982D-9C14-E702-5AE1-C9030BFD2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0CCCA-2419-39FC-4F64-F44FEFF22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IN" b="1" dirty="0"/>
              <a:t>1. User Management</a:t>
            </a:r>
            <a:endParaRPr lang="en-IN" dirty="0"/>
          </a:p>
          <a:p>
            <a:pPr lvl="0"/>
            <a:r>
              <a:rPr lang="en-IN" dirty="0"/>
              <a:t>Registration and login</a:t>
            </a:r>
          </a:p>
          <a:p>
            <a:pPr lvl="0"/>
            <a:r>
              <a:rPr lang="en-IN" dirty="0"/>
              <a:t>User and athlete profile management</a:t>
            </a:r>
          </a:p>
          <a:p>
            <a:r>
              <a:rPr lang="en-IN" b="1" dirty="0"/>
              <a:t>2. Sports Management</a:t>
            </a:r>
            <a:endParaRPr lang="en-IN" dirty="0"/>
          </a:p>
          <a:p>
            <a:pPr lvl="0"/>
            <a:r>
              <a:rPr lang="en-IN" dirty="0"/>
              <a:t>Add and manage sports</a:t>
            </a:r>
          </a:p>
          <a:p>
            <a:pPr lvl="0"/>
            <a:r>
              <a:rPr lang="en-IN" dirty="0"/>
              <a:t>Manage sports programs</a:t>
            </a:r>
          </a:p>
          <a:p>
            <a:r>
              <a:rPr lang="en-IN" b="1" dirty="0"/>
              <a:t>3. Subscription Plan Management</a:t>
            </a:r>
            <a:endParaRPr lang="en-IN" dirty="0"/>
          </a:p>
          <a:p>
            <a:pPr lvl="0"/>
            <a:r>
              <a:rPr lang="en-IN" dirty="0"/>
              <a:t>Create membership plans</a:t>
            </a:r>
          </a:p>
          <a:p>
            <a:pPr lvl="0"/>
            <a:r>
              <a:rPr lang="en-IN" dirty="0"/>
              <a:t>Define price and duration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077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48105-D323-0282-4AB4-239CB48C7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A110D-8DE1-25B8-BD04-989567C36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dirty="0"/>
              <a:t>4. Subscription Management</a:t>
            </a:r>
            <a:endParaRPr lang="en-IN" dirty="0"/>
          </a:p>
          <a:p>
            <a:pPr lvl="0"/>
            <a:r>
              <a:rPr lang="en-IN" dirty="0"/>
              <a:t>Subscribe to plans</a:t>
            </a:r>
          </a:p>
          <a:p>
            <a:pPr lvl="0"/>
            <a:r>
              <a:rPr lang="en-IN" dirty="0"/>
              <a:t>Track active, expired and cancelled subscriptions</a:t>
            </a:r>
          </a:p>
          <a:p>
            <a:r>
              <a:rPr lang="en-IN" b="1" dirty="0"/>
              <a:t>5. Billing &amp; Payment</a:t>
            </a:r>
            <a:endParaRPr lang="en-IN" dirty="0"/>
          </a:p>
          <a:p>
            <a:pPr lvl="0"/>
            <a:r>
              <a:rPr lang="en-IN" dirty="0"/>
              <a:t>Generate bills and invoices</a:t>
            </a:r>
          </a:p>
          <a:p>
            <a:pPr lvl="0"/>
            <a:r>
              <a:rPr lang="en-IN" dirty="0"/>
              <a:t>Record payment transactions</a:t>
            </a:r>
          </a:p>
          <a:p>
            <a:r>
              <a:rPr lang="en-IN" b="1" dirty="0"/>
              <a:t>6. Admin Module</a:t>
            </a:r>
            <a:endParaRPr lang="en-IN" dirty="0"/>
          </a:p>
          <a:p>
            <a:pPr lvl="0"/>
            <a:r>
              <a:rPr lang="en-IN" dirty="0"/>
              <a:t>Manage users and plans</a:t>
            </a:r>
          </a:p>
          <a:p>
            <a:pPr lvl="0"/>
            <a:r>
              <a:rPr lang="en-IN" dirty="0"/>
              <a:t>Monitor subscriptions and payments</a:t>
            </a:r>
          </a:p>
          <a:p>
            <a:pPr lvl="0"/>
            <a:r>
              <a:rPr lang="en-IN" dirty="0"/>
              <a:t>Generate reports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03BD5E-2385-5C72-9B51-7FB535EFC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47009-55DF-4EA5-900B-29AFB7C8438A}" type="datetime1">
              <a:rPr lang="en-IN" smtClean="0"/>
              <a:t>17/08/26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712C5-1CE2-009D-553B-4343384AC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CD705-620A-F2E2-ED60-07B1B56B2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210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D793-788A-0BBE-1A25-0D6B7B4B4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695C-2E9D-0BEB-6476-FC1A6852D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SOFTWARE REQUIREMENTS </a:t>
            </a:r>
            <a:endParaRPr lang="en-IN" sz="32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729F55-DE57-8408-42F6-4E0FBAB30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23B38-760E-3758-6704-655E2B69F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11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3C331-E06F-D027-E4C0-6920D3707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b="1" dirty="0"/>
              <a:t>Programming Language</a:t>
            </a:r>
            <a:endParaRPr lang="en-IN" dirty="0"/>
          </a:p>
          <a:p>
            <a:pPr lvl="0"/>
            <a:r>
              <a:rPr lang="en-IN" dirty="0"/>
              <a:t>Java</a:t>
            </a:r>
          </a:p>
          <a:p>
            <a:r>
              <a:rPr lang="en-IN" b="1" dirty="0"/>
              <a:t>Backend Framework</a:t>
            </a:r>
            <a:endParaRPr lang="en-IN" dirty="0"/>
          </a:p>
          <a:p>
            <a:pPr lvl="0"/>
            <a:r>
              <a:rPr lang="en-IN" dirty="0"/>
              <a:t>Spring Boot</a:t>
            </a:r>
          </a:p>
          <a:p>
            <a:r>
              <a:rPr lang="en-IN" b="1" dirty="0"/>
              <a:t>Database</a:t>
            </a:r>
            <a:endParaRPr lang="en-IN" dirty="0"/>
          </a:p>
          <a:p>
            <a:pPr lvl="0"/>
            <a:r>
              <a:rPr lang="en-IN" dirty="0"/>
              <a:t>MySQL</a:t>
            </a:r>
          </a:p>
          <a:p>
            <a:r>
              <a:rPr lang="en-IN" b="1" dirty="0"/>
              <a:t>Database Connectivity</a:t>
            </a:r>
            <a:endParaRPr lang="en-IN" dirty="0"/>
          </a:p>
          <a:p>
            <a:pPr lvl="0"/>
            <a:r>
              <a:rPr lang="en-IN" dirty="0"/>
              <a:t>Spring Data JPA</a:t>
            </a:r>
          </a:p>
          <a:p>
            <a:pPr lvl="0"/>
            <a:r>
              <a:rPr lang="en-IN" dirty="0"/>
              <a:t>Hibernate</a:t>
            </a:r>
          </a:p>
          <a:p>
            <a:pPr lvl="0"/>
            <a:r>
              <a:rPr lang="en-IN" dirty="0"/>
              <a:t>JDBC</a:t>
            </a:r>
          </a:p>
          <a:p>
            <a:r>
              <a:rPr lang="en-IN" b="1" dirty="0"/>
              <a:t>API Development</a:t>
            </a:r>
            <a:endParaRPr lang="en-IN" dirty="0"/>
          </a:p>
          <a:p>
            <a:pPr lvl="0"/>
            <a:r>
              <a:rPr lang="en-IN" dirty="0"/>
              <a:t>REST API</a:t>
            </a:r>
          </a:p>
          <a:p>
            <a:pPr lvl="0"/>
            <a:r>
              <a:rPr lang="en-IN" dirty="0"/>
              <a:t>Spring Web</a:t>
            </a:r>
          </a:p>
          <a:p>
            <a:pPr lvl="0"/>
            <a:r>
              <a:rPr lang="en-IN" dirty="0"/>
              <a:t>Postman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968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5F8C2-111B-5352-5128-7126DF285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54D73-0C98-1BCC-AF71-A634817E2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0869" y="283266"/>
            <a:ext cx="6564573" cy="805366"/>
          </a:xfrm>
        </p:spPr>
        <p:txBody>
          <a:bodyPr anchor="ctr">
            <a:no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CONCLUSION AND FUTURE SCOPE</a:t>
            </a:r>
            <a:endParaRPr lang="en-US" sz="4000" b="1" dirty="0">
              <a:solidFill>
                <a:srgbClr val="0070C0"/>
              </a:solidFill>
            </a:endParaRP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2DA0B0B4-0323-82D4-C481-9A75F01F0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B961B71F-4B40-8942-BB88-E0F5C0B46E10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E4DAF2-A966-C152-4114-E46A65EE4243}"/>
              </a:ext>
            </a:extLst>
          </p:cNvPr>
          <p:cNvSpPr txBox="1"/>
          <p:nvPr/>
        </p:nvSpPr>
        <p:spPr>
          <a:xfrm>
            <a:off x="870619" y="1736500"/>
            <a:ext cx="9625071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CONCLUSION</a:t>
            </a:r>
            <a:endParaRPr lang="en-IN" dirty="0"/>
          </a:p>
          <a:p>
            <a:pPr lvl="0"/>
            <a:r>
              <a:rPr lang="en-IN" dirty="0"/>
              <a:t>The proposed system provides a centralized solution for sports subscription and billing management.</a:t>
            </a:r>
          </a:p>
          <a:p>
            <a:pPr lvl="0"/>
            <a:r>
              <a:rPr lang="en-IN" dirty="0"/>
              <a:t>It reduces manual work and improves the accuracy of subscription and payment records.</a:t>
            </a:r>
          </a:p>
          <a:p>
            <a:pPr lvl="0"/>
            <a:r>
              <a:rPr lang="en-IN" dirty="0"/>
              <a:t>Database engineering concepts help maintain structured and consistent data.</a:t>
            </a:r>
          </a:p>
          <a:p>
            <a:pPr lvl="0"/>
            <a:r>
              <a:rPr lang="en-IN" dirty="0"/>
              <a:t>REST APIs provide efficient communication between application components.</a:t>
            </a:r>
          </a:p>
          <a:p>
            <a:pPr lvl="0"/>
            <a:r>
              <a:rPr lang="en-IN" dirty="0"/>
              <a:t>The architecture can be extended to support microservices and scalable deployment.</a:t>
            </a:r>
          </a:p>
          <a:p>
            <a:r>
              <a:rPr lang="en-IN" b="1" dirty="0"/>
              <a:t>FUTURE SCOPE</a:t>
            </a:r>
            <a:endParaRPr lang="en-IN" dirty="0"/>
          </a:p>
          <a:p>
            <a:pPr lvl="0"/>
            <a:r>
              <a:rPr lang="en-IN" dirty="0"/>
              <a:t>Online payment gateway integration</a:t>
            </a:r>
          </a:p>
          <a:p>
            <a:pPr lvl="0"/>
            <a:r>
              <a:rPr lang="en-IN" dirty="0"/>
              <a:t>Automatic renewal notifications</a:t>
            </a:r>
          </a:p>
          <a:p>
            <a:pPr lvl="0"/>
            <a:r>
              <a:rPr lang="en-IN" dirty="0"/>
              <a:t>Mobile application</a:t>
            </a:r>
          </a:p>
          <a:p>
            <a:pPr lvl="0"/>
            <a:r>
              <a:rPr lang="en-IN" dirty="0"/>
              <a:t>Advanced billing and analytics dashboard</a:t>
            </a:r>
          </a:p>
          <a:p>
            <a:pPr lvl="0"/>
            <a:r>
              <a:rPr lang="en-IN" dirty="0"/>
              <a:t>Kubernetes-based deployment</a:t>
            </a:r>
          </a:p>
          <a:p>
            <a:pPr lvl="0"/>
            <a:r>
              <a:rPr lang="en-IN" dirty="0"/>
              <a:t>Automated CI/CD pipeline</a:t>
            </a:r>
          </a:p>
          <a:p>
            <a:pPr lvl="0"/>
            <a:r>
              <a:rPr lang="en-IN" dirty="0"/>
              <a:t>Integration with sports performance and attendance systems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90094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C8793-E103-AB45-8004-22026763E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1D54B-0FD3-9472-F26B-1721165ACB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0"/>
            <a:r>
              <a:rPr lang="en-IN" dirty="0"/>
              <a:t>Swagger / </a:t>
            </a:r>
            <a:r>
              <a:rPr lang="en-IN" dirty="0" err="1"/>
              <a:t>OpenAPI</a:t>
            </a:r>
            <a:endParaRPr lang="en-IN" dirty="0"/>
          </a:p>
          <a:p>
            <a:r>
              <a:rPr lang="en-IN" b="1" dirty="0"/>
              <a:t>Development Tools</a:t>
            </a:r>
            <a:endParaRPr lang="en-IN" dirty="0"/>
          </a:p>
          <a:p>
            <a:pPr lvl="0"/>
            <a:r>
              <a:rPr lang="en-IN" dirty="0"/>
              <a:t>IntelliJ IDEA / Eclipse</a:t>
            </a:r>
          </a:p>
          <a:p>
            <a:pPr lvl="0"/>
            <a:r>
              <a:rPr lang="en-IN" dirty="0"/>
              <a:t>MySQL Workbench</a:t>
            </a:r>
          </a:p>
          <a:p>
            <a:pPr lvl="0"/>
            <a:r>
              <a:rPr lang="en-IN" dirty="0"/>
              <a:t>Git &amp; GitHub</a:t>
            </a:r>
          </a:p>
          <a:p>
            <a:r>
              <a:rPr lang="en-IN" b="1" dirty="0"/>
              <a:t>Build Tool</a:t>
            </a:r>
            <a:endParaRPr lang="en-IN" dirty="0"/>
          </a:p>
          <a:p>
            <a:pPr lvl="0"/>
            <a:r>
              <a:rPr lang="en-IN" dirty="0"/>
              <a:t>Maven</a:t>
            </a:r>
          </a:p>
          <a:p>
            <a:r>
              <a:rPr lang="en-IN" b="1" dirty="0"/>
              <a:t>Deployment</a:t>
            </a:r>
            <a:endParaRPr lang="en-IN" dirty="0"/>
          </a:p>
          <a:p>
            <a:pPr lvl="0"/>
            <a:r>
              <a:rPr lang="en-IN" dirty="0"/>
              <a:t>Docker</a:t>
            </a:r>
          </a:p>
          <a:p>
            <a:pPr lvl="0"/>
            <a:r>
              <a:rPr lang="en-IN" dirty="0"/>
              <a:t>Docker Compose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24CE2-5DFE-1A5C-179F-B4CE8E738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47009-55DF-4EA5-900B-29AFB7C8438A}" type="datetime1">
              <a:rPr lang="en-IN" smtClean="0"/>
              <a:t>17/08/26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6B2FB4-CC48-4B62-3638-6BE42DB1C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8769F-AA25-4D29-8770-6DDE9780C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4378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b="1" dirty="0">
                <a:solidFill>
                  <a:srgbClr val="0070C0"/>
                </a:solidFill>
              </a:rPr>
              <a:t>THANK YOU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5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8256</TotalTime>
  <Words>810</Words>
  <Application>Microsoft Macintosh PowerPoint</Application>
  <PresentationFormat>Widescreen</PresentationFormat>
  <Paragraphs>171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Custom Design</vt:lpstr>
      <vt:lpstr> 1st  REVIEW  Distributed Video Anomaly Detection in Large-Scale Surveillance Systems Using HDFS and Cluster-Visualized Federated CNN–LSTM Models </vt:lpstr>
      <vt:lpstr>GROUP NUMBER:19</vt:lpstr>
      <vt:lpstr>ABSTRACT</vt:lpstr>
      <vt:lpstr>INTRDOUCTION</vt:lpstr>
      <vt:lpstr>EXISTING SYSTEM</vt:lpstr>
      <vt:lpstr>PROBLEM</vt:lpstr>
      <vt:lpstr>SOLUTION(Contribution)</vt:lpstr>
      <vt:lpstr>Objectives </vt:lpstr>
      <vt:lpstr>Modules</vt:lpstr>
      <vt:lpstr>PowerPoint Presentation</vt:lpstr>
      <vt:lpstr>SOFTWARE REQUIREMENTS </vt:lpstr>
      <vt:lpstr>CONCLUSION AND FUTURE SCOPE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SHAHANA BANO</dc:creator>
  <cp:lastModifiedBy>mohith kota</cp:lastModifiedBy>
  <cp:revision>95</cp:revision>
  <dcterms:created xsi:type="dcterms:W3CDTF">2022-05-20T10:20:31Z</dcterms:created>
  <dcterms:modified xsi:type="dcterms:W3CDTF">2026-08-17T07:58:34Z</dcterms:modified>
</cp:coreProperties>
</file>